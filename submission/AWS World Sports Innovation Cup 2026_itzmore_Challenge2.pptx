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embeddedFontLst>
    <p:embeddedFont>
      <p:font typeface="Arial-Black"/>
      <p:regular r:id="rId201314"/>
    </p:embeddedFont>
    <p:embeddedFont>
      <p:font typeface="Roboto-BoldItalic"/>
      <p:regular r:id="rId201315"/>
    </p:embeddedFont>
    <p:embeddedFont>
      <p:font typeface="Roboto-Regular"/>
      <p:regular r:id="rId201316"/>
    </p:embeddedFont>
    <p:embeddedFont>
      <p:font typeface="Montserrat"/>
      <p:regular r:id="rId201317"/>
      <p:bold r:id="rId301314"/>
    </p:embeddedFont>
    <p:embeddedFont>
      <p:font typeface="Arial-BoldMT"/>
      <p:regular r:id="rId201318"/>
    </p:embeddedFont>
    <p:embeddedFont>
      <p:font typeface="Open Sans"/>
      <p:regular r:id="rId201319"/>
    </p:embeddedFont>
    <p:embeddedFont>
      <p:font typeface="OpenSans-Bold"/>
      <p:regular r:id="rId201320"/>
    </p:embeddedFont>
    <p:embeddedFont>
      <p:font typeface="ArialMT"/>
      <p:regular r:id="rId201321"/>
    </p:embeddedFont>
    <p:embeddedFont>
      <p:font typeface="Poppins"/>
      <p:regular r:id="rId201322"/>
      <p:bold r:id="rId301315"/>
    </p:embeddedFont>
    <p:embeddedFont>
      <p:font typeface="Lato"/>
      <p:regular r:id="rId201323"/>
      <p:bold r:id="rId301316"/>
    </p:embeddedFont>
    <p:embeddedFont>
      <p:font typeface="Roboto Mono"/>
      <p:regular r:id="rId201324"/>
    </p:embeddedFont>
    <p:embeddedFont>
      <p:font typeface="Inter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Relationship Id="rId301316" Target="fonts/3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00075"/>
            <a:ext cx="11658600" cy="594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F0F0F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141 Million Data Points Per Match.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48" y="1219200"/>
            <a:ext cx="12185452" cy="594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600" dirty="0">
                <a:solidFill>
                  <a:srgbClr val="FF2A2A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Zero Body Intelligence Metrics. Until Now.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33400" y="257175"/>
            <a:ext cx="11201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A84236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AWS World Sports Innovation Cup 2026 • Unlock 3D Football Data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7615238" y="2247900"/>
            <a:ext cx="1152525" cy="2305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15"/>
              </a:lnSpc>
              <a:buNone/>
            </a:pPr>
            <a:r>
              <a:rPr lang="en-US" sz="1650" dirty="0">
                <a:solidFill>
                  <a:srgbClr val="FF2A2A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AWI 87.3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2475" y="3067050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2A2A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86850" y="3067050"/>
            <a:ext cx="260604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F2A2A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THE SOLUTION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533400" y="1905000"/>
            <a:ext cx="7439025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i="1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Measuring Cognitive Awareness &amp; Pressing Mechanics</a:t>
            </a:r>
            <a:pPr algn="l" indent="0" marL="0">
              <a:lnSpc>
                <a:spcPts val="2588"/>
              </a:lnSpc>
              <a:buNone/>
            </a:pPr>
            <a:r>
              <a:rPr lang="en-US" sz="1725" i="1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588"/>
              </a:lnSpc>
              <a:buNone/>
            </a:pPr>
            <a:r>
              <a:rPr lang="en-US" sz="1725" i="1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from 3D Skeleton Data at Bundesliga Scale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752475" y="3429000"/>
            <a:ext cx="3656558" cy="22407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❌ Position tracking only –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no body mechanics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❌ Invisible cognitive load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&amp; scanning patterns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❌ Pressing intensity unmeasured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at joint level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❌ 141M data points/match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205"/>
              </a:lnSpc>
              <a:buNone/>
            </a:pPr>
            <a:r>
              <a:rPr lang="en-US" sz="1575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go untapped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9372600" y="3429000"/>
            <a:ext cx="2671763" cy="2133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✔ AWI – Awareness index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from head orientation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✔ PQI – Pressure Quality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from joint biomechanics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✔ 5 Bundesliga matches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analyzed at scale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✔ AWS SageMaker +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Bedrock pipeline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54302" y="5810250"/>
            <a:ext cx="3216473" cy="2591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275" i="1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From position to body intelligence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10715625" y="257175"/>
            <a:ext cx="13201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75"/>
              </a:lnSpc>
              <a:buNone/>
            </a:pPr>
            <a:r>
              <a:rPr lang="en-US" sz="1275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Team: itzmore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0" y="6562725"/>
            <a:ext cx="12192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C0C0C0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5 Bundesliga matches • 141M data points/match • 400 player-phase rows • 177 unit tests • Production-containerised pipeline (Docker → ECR → SageMaker)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7621339" y="2571750"/>
            <a:ext cx="101619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Awareness Index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71" y="2530525"/>
            <a:ext cx="11582400" cy="19475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6725" y="638175"/>
            <a:ext cx="9932640" cy="10745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230"/>
              </a:lnSpc>
              <a:buNone/>
            </a:pPr>
            <a:r>
              <a:rPr lang="en-US" sz="3525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to Scouting Narrative in 15 Minutes.</a:t>
            </a:r>
            <a:pPr indent="0" marL="0">
              <a:lnSpc>
                <a:spcPts val="4230"/>
              </a:lnSpc>
              <a:buNone/>
            </a:pPr>
            <a:r>
              <a:rPr lang="en-US" sz="3525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indent="0" marL="0">
              <a:lnSpc>
                <a:spcPts val="4230"/>
              </a:lnSpc>
              <a:buNone/>
            </a:pPr>
            <a:r>
              <a:rPr lang="en-US" sz="3525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Bundesliga Scale.</a:t>
            </a:r>
            <a:endParaRPr lang="en-US" sz="3525" dirty="0"/>
          </a:p>
        </p:txBody>
      </p:sp>
      <p:sp>
        <p:nvSpPr>
          <p:cNvPr id="5" name="Text 1"/>
          <p:cNvSpPr/>
          <p:nvPr/>
        </p:nvSpPr>
        <p:spPr>
          <a:xfrm rot="480000">
            <a:off x="10287848" y="654264"/>
            <a:ext cx="1335525" cy="5297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buNone/>
            </a:pPr>
            <a:r>
              <a:rPr lang="en-US" sz="2250" b="1" dirty="0">
                <a:solidFill>
                  <a:srgbClr val="FF57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~15 min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090017" y="5038725"/>
            <a:ext cx="24202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Circular Smoothing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4663380" y="5038725"/>
            <a:ext cx="301749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Leading-Edge Counting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366349" y="5038725"/>
            <a:ext cx="139347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0EA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 Filter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66725" y="266700"/>
            <a:ext cx="3497580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spc="120" kern="0" dirty="0">
                <a:solidFill>
                  <a:srgbClr val="524B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PIPELINE</a:t>
            </a:r>
            <a:endParaRPr lang="en-US" sz="1275" dirty="0"/>
          </a:p>
        </p:txBody>
      </p:sp>
      <p:sp>
        <p:nvSpPr>
          <p:cNvPr id="10" name="Text 6"/>
          <p:cNvSpPr/>
          <p:nvPr/>
        </p:nvSpPr>
        <p:spPr>
          <a:xfrm>
            <a:off x="1162496" y="5381625"/>
            <a:ext cx="22944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sin/cos Decomposition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145286" y="5381625"/>
            <a:ext cx="205353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0A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Rotation = 1 Event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801546" y="5381625"/>
            <a:ext cx="250403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A0A0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≥10 Consecutive Frames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 rot="600000">
            <a:off x="9708342" y="1080726"/>
            <a:ext cx="2483658" cy="10294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5 matches x 2 metrics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via SageMaker 10 parallel jobs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(vs. ~2 hrs local)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590550" y="5762625"/>
            <a:ext cx="3813721" cy="5201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Standard rolling mean breaks at +190°. Circular</a:t>
            </a:r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smoothing prevents angle-wrap errors in head</a:t>
            </a:r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rotation data.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33900" y="5800725"/>
            <a:ext cx="36565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A sustained head turn registers as a single scan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event — not inflated frame-by-frame counts.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515350" y="5762625"/>
            <a:ext cx="349939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Excludes incidental proximity. Only genuine,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F0EAD6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intentional pressing phases are scored.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571750"/>
            <a:ext cx="3681859" cy="30448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90" y="2482453"/>
            <a:ext cx="4449961" cy="385405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4825" y="571500"/>
            <a:ext cx="10299353" cy="7753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3053"/>
              </a:lnSpc>
              <a:buNone/>
            </a:pPr>
            <a:r>
              <a:rPr lang="en-US" sz="2775" dirty="0">
                <a:solidFill>
                  <a:srgbClr val="F0F0E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Defensive Midfielders Are the Most Cognitively</a:t>
            </a:r>
            <a:pPr algn="l" indent="0" marL="0">
              <a:lnSpc>
                <a:spcPts val="3053"/>
              </a:lnSpc>
              <a:buNone/>
            </a:pPr>
            <a:r>
              <a:rPr lang="en-US" sz="2775" dirty="0">
                <a:solidFill>
                  <a:srgbClr val="F0F0E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
</a:t>
            </a:r>
            <a:pPr algn="l" indent="0" marL="0">
              <a:lnSpc>
                <a:spcPts val="3053"/>
              </a:lnSpc>
              <a:buNone/>
            </a:pPr>
            <a:r>
              <a:rPr lang="en-US" sz="2775" dirty="0">
                <a:solidFill>
                  <a:srgbClr val="F0F0E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Active Players on the Pitch</a:t>
            </a:r>
            <a:endParaRPr lang="en-US" sz="2775" dirty="0"/>
          </a:p>
        </p:txBody>
      </p:sp>
      <p:sp>
        <p:nvSpPr>
          <p:cNvPr id="6" name="Text 1"/>
          <p:cNvSpPr/>
          <p:nvPr/>
        </p:nvSpPr>
        <p:spPr>
          <a:xfrm>
            <a:off x="9383911" y="2590800"/>
            <a:ext cx="247263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25"/>
              </a:lnSpc>
              <a:buNone/>
            </a:pPr>
            <a:r>
              <a:rPr lang="en-US" sz="3225" dirty="0">
                <a:solidFill>
                  <a:srgbClr val="F0F0E0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R = 0.854</a:t>
            </a:r>
            <a:endParaRPr lang="en-US" sz="3225" dirty="0"/>
          </a:p>
        </p:txBody>
      </p:sp>
      <p:sp>
        <p:nvSpPr>
          <p:cNvPr id="7" name="Text 2"/>
          <p:cNvSpPr/>
          <p:nvPr/>
        </p:nvSpPr>
        <p:spPr>
          <a:xfrm>
            <a:off x="9428262" y="4743450"/>
            <a:ext cx="149825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FF2D2D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+57%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504825" y="1495425"/>
            <a:ext cx="1168717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dirty="0">
                <a:solidFill>
                  <a:srgbClr val="FF2D2D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AWI Spikes +57% Before Every Pass</a:t>
            </a:r>
            <a:endParaRPr lang="en-US" sz="2700" dirty="0"/>
          </a:p>
        </p:txBody>
      </p:sp>
      <p:sp>
        <p:nvSpPr>
          <p:cNvPr id="9" name="Text 4"/>
          <p:cNvSpPr/>
          <p:nvPr/>
        </p:nvSpPr>
        <p:spPr>
          <a:xfrm>
            <a:off x="504825" y="2247900"/>
            <a:ext cx="486918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TOP 5 · AWI LEADERBOARD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286375" y="2247900"/>
            <a:ext cx="41148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dirty="0">
                <a:solidFill>
                  <a:srgbClr val="A0A0A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POSITION AVERAGE AWI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9496425" y="2247900"/>
            <a:ext cx="1748790" cy="1781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75" dirty="0">
                <a:solidFill>
                  <a:srgbClr val="A0A0A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STABILITY</a:t>
            </a:r>
            <a:endParaRPr lang="en-US" sz="1275" dirty="0"/>
          </a:p>
        </p:txBody>
      </p:sp>
      <p:sp>
        <p:nvSpPr>
          <p:cNvPr id="12" name="Text 7"/>
          <p:cNvSpPr/>
          <p:nvPr/>
        </p:nvSpPr>
        <p:spPr>
          <a:xfrm>
            <a:off x="9496425" y="4400550"/>
            <a:ext cx="2695575" cy="1781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1275" dirty="0">
                <a:solidFill>
                  <a:srgbClr val="A0A0A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PRE-PASS SPIKE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504825" y="95250"/>
            <a:ext cx="42862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D0D0D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AWI RESULTS &amp; KEY SIGNALS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9496425" y="3105150"/>
            <a:ext cx="269557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 &lt; 0.001 · n = 69 phases</a:t>
            </a:r>
            <a:endParaRPr lang="en-US" sz="825" dirty="0"/>
          </a:p>
        </p:txBody>
      </p:sp>
      <p:sp>
        <p:nvSpPr>
          <p:cNvPr id="15" name="Text 10"/>
          <p:cNvSpPr/>
          <p:nvPr/>
        </p:nvSpPr>
        <p:spPr>
          <a:xfrm>
            <a:off x="9496425" y="3429000"/>
            <a:ext cx="2682180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AWI is a stable player trait –</a:t>
            </a:r>
            <a:pPr algn="l" indent="0" marL="0">
              <a:lnSpc>
                <a:spcPts val="1530"/>
              </a:lnSpc>
              <a:buNone/>
            </a:pPr>
            <a:r>
              <a:rPr lang="en-US" sz="127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1530"/>
              </a:lnSpc>
              <a:buNone/>
            </a:pPr>
            <a:r>
              <a:rPr lang="en-US" sz="127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 match-context artifact.</a:t>
            </a:r>
            <a:endParaRPr lang="en-US" sz="1275" dirty="0"/>
          </a:p>
        </p:txBody>
      </p:sp>
      <p:sp>
        <p:nvSpPr>
          <p:cNvPr id="16" name="Text 11"/>
          <p:cNvSpPr/>
          <p:nvPr/>
        </p:nvSpPr>
        <p:spPr>
          <a:xfrm>
            <a:off x="9300121" y="5334000"/>
            <a:ext cx="28918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FF2D2D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5 seconds before ball release · 50 tps resolution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9247733" y="5610225"/>
            <a:ext cx="2944118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AWI captures the pre-decision</a:t>
            </a:r>
            <a:pPr algn="l" indent="0" marL="0">
              <a:lnSpc>
                <a:spcPts val="1406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1406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cognitive window – playing with your</a:t>
            </a:r>
            <a:pPr algn="l" indent="0" marL="0">
              <a:lnSpc>
                <a:spcPts val="1406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pPr algn="l" indent="0" marL="0">
              <a:lnSpc>
                <a:spcPts val="1406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 up', measured frame by frame.</a:t>
            </a:r>
            <a:endParaRPr lang="en-US" sz="1125" dirty="0"/>
          </a:p>
        </p:txBody>
      </p:sp>
      <p:sp>
        <p:nvSpPr>
          <p:cNvPr id="18" name="Text 13"/>
          <p:cNvSpPr/>
          <p:nvPr/>
        </p:nvSpPr>
        <p:spPr>
          <a:xfrm>
            <a:off x="5286375" y="5810250"/>
            <a:ext cx="6789420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350" i="1" dirty="0">
                <a:solidFill>
                  <a:srgbClr val="C0C0C0"/>
                </a:solidFill>
                <a:latin typeface="Arial-BoldMT" pitchFamily="34" charset="0"/>
                <a:ea typeface="Arial-BoldMT" pitchFamily="34" charset="-122"/>
                <a:cs typeface="Arial-BoldMT" pitchFamily="34" charset="-120"/>
              </a:rPr>
              <a:t>Position mirrors cognitive demand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078236" y="6496050"/>
            <a:ext cx="854958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AWI derived from 3D nose - neck - ear keypoints · TRACAB TF15 · 50 frames per second · 5 Bundesliga matches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286375" y="6153150"/>
            <a:ext cx="6905625" cy="1314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ArialMT" pitchFamily="34" charset="0"/>
                <a:ea typeface="ArialMT" pitchFamily="34" charset="-122"/>
                <a:cs typeface="ArialMT" pitchFamily="34" charset="-120"/>
              </a:rPr>
              <a:t>DMZ = Def. Mid Centre · STZ = Striker · TW = Goalkeeper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300121" y="3933825"/>
            <a:ext cx="2891879" cy="1028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Kimmich: 21.77 &gt; 21.16 over 47 min (variance: 0.6 seconds)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459" y="5102275"/>
            <a:ext cx="243780" cy="28798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996" y="3703290"/>
            <a:ext cx="316855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996" y="2029867"/>
            <a:ext cx="316855" cy="30852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57" y="1913334"/>
            <a:ext cx="7863780" cy="451931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66725" y="466725"/>
            <a:ext cx="10907018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0D9C4"/>
                </a:solidFill>
              </a:rPr>
              <a:t>Scanning Awareness and Pressing Mechanics</a:t>
            </a:r>
            <a:pPr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0D9C4"/>
                </a:solidFill>
              </a:rPr>
              <a:t>Are Independent Skills. Both Are Required.</a:t>
            </a:r>
            <a:endParaRPr lang="en-US" sz="3000" dirty="0"/>
          </a:p>
        </p:txBody>
      </p:sp>
      <p:sp>
        <p:nvSpPr>
          <p:cNvPr id="8" name="Text 1"/>
          <p:cNvSpPr/>
          <p:nvPr/>
        </p:nvSpPr>
        <p:spPr>
          <a:xfrm>
            <a:off x="466725" y="1562100"/>
            <a:ext cx="3017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B83329"/>
                </a:solidFill>
              </a:rPr>
              <a:t>r = -0.11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9248775" y="2047875"/>
            <a:ext cx="2943225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8"/>
              </a:lnSpc>
              <a:buNone/>
            </a:pPr>
            <a:r>
              <a:rPr lang="en-US" sz="1425" dirty="0">
                <a:solidFill>
                  <a:srgbClr val="C4B29E"/>
                </a:solidFill>
              </a:rPr>
              <a:t>Elite Quadrant</a:t>
            </a:r>
            <a:endParaRPr lang="en-US" sz="1425" dirty="0"/>
          </a:p>
        </p:txBody>
      </p:sp>
      <p:sp>
        <p:nvSpPr>
          <p:cNvPr id="10" name="Text 3"/>
          <p:cNvSpPr/>
          <p:nvPr/>
        </p:nvSpPr>
        <p:spPr>
          <a:xfrm>
            <a:off x="9248775" y="3686175"/>
            <a:ext cx="2943225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8"/>
              </a:lnSpc>
              <a:buNone/>
            </a:pPr>
            <a:r>
              <a:rPr lang="en-US" sz="1425" dirty="0">
                <a:solidFill>
                  <a:srgbClr val="C4B29E"/>
                </a:solidFill>
              </a:rPr>
              <a:t>Kimmich Fatigue Signal</a:t>
            </a:r>
            <a:endParaRPr lang="en-US" sz="1425" dirty="0"/>
          </a:p>
        </p:txBody>
      </p:sp>
      <p:sp>
        <p:nvSpPr>
          <p:cNvPr id="11" name="Text 4"/>
          <p:cNvSpPr/>
          <p:nvPr/>
        </p:nvSpPr>
        <p:spPr>
          <a:xfrm>
            <a:off x="9248775" y="5114925"/>
            <a:ext cx="2943225" cy="1991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8"/>
              </a:lnSpc>
              <a:buNone/>
            </a:pPr>
            <a:r>
              <a:rPr lang="en-US" sz="1425" dirty="0">
                <a:solidFill>
                  <a:srgbClr val="C4B29E"/>
                </a:solidFill>
              </a:rPr>
              <a:t>Vušković Versatility Flag</a:t>
            </a:r>
            <a:endParaRPr lang="en-US" sz="1425" dirty="0"/>
          </a:p>
        </p:txBody>
      </p:sp>
      <p:sp>
        <p:nvSpPr>
          <p:cNvPr id="12" name="Text 5"/>
          <p:cNvSpPr/>
          <p:nvPr/>
        </p:nvSpPr>
        <p:spPr>
          <a:xfrm>
            <a:off x="466725" y="190500"/>
            <a:ext cx="9601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75" dirty="0">
                <a:solidFill>
                  <a:srgbClr val="C4B29E"/>
                </a:solidFill>
              </a:rPr>
              <a:t>THE KEY FINDING — AWI × PQI INDEPENDENCE</a:t>
            </a:r>
            <a:endParaRPr lang="en-US" sz="1575" dirty="0"/>
          </a:p>
        </p:txBody>
      </p:sp>
      <p:sp>
        <p:nvSpPr>
          <p:cNvPr id="13" name="Text 6"/>
          <p:cNvSpPr/>
          <p:nvPr/>
        </p:nvSpPr>
        <p:spPr>
          <a:xfrm>
            <a:off x="409575" y="1600200"/>
            <a:ext cx="1178242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C4B29E"/>
                </a:solidFill>
              </a:rPr>
              <a:t>p = 0.12 · n = 198 · Statistically independent. One metric alone misses half the picture.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9132540" y="2352675"/>
            <a:ext cx="3059311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9"/>
              </a:lnSpc>
              <a:buNone/>
            </a:pPr>
            <a:r>
              <a:rPr lang="en-US" sz="1425" dirty="0">
                <a:solidFill>
                  <a:srgbClr val="E0D9C4"/>
                </a:solidFill>
              </a:rPr>
              <a:t>Only 10 unique players of 400</a:t>
            </a:r>
            <a:pPr indent="0" marL="0">
              <a:lnSpc>
                <a:spcPts val="1639"/>
              </a:lnSpc>
              <a:buNone/>
            </a:pPr>
            <a:r>
              <a:rPr lang="en-US" sz="1425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639"/>
              </a:lnSpc>
              <a:buNone/>
            </a:pPr>
            <a:r>
              <a:rPr lang="en-US" sz="1425" dirty="0">
                <a:solidFill>
                  <a:srgbClr val="E0D9C4"/>
                </a:solidFill>
              </a:rPr>
              <a:t>observations qualify.</a:t>
            </a:r>
            <a:endParaRPr lang="en-US" sz="1425" dirty="0"/>
          </a:p>
        </p:txBody>
      </p:sp>
      <p:sp>
        <p:nvSpPr>
          <p:cNvPr id="15" name="Text 8"/>
          <p:cNvSpPr/>
          <p:nvPr/>
        </p:nvSpPr>
        <p:spPr>
          <a:xfrm>
            <a:off x="9069586" y="2847975"/>
            <a:ext cx="3122265" cy="3943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Dual-threat rarity — exceptional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in both dimensions.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8985796" y="3990975"/>
            <a:ext cx="3206055" cy="3943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AWI drops 52% in the second half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23.38 → 11:29 scans/min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248775" y="4476750"/>
            <a:ext cx="2943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C4B29E"/>
                </a:solidFill>
              </a:rPr>
              <a:t>Invisible to GPS. Visible here.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9132540" y="5419725"/>
            <a:ext cx="3059311" cy="7887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A-back scanning at DMZ rates.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Positional versatility — surfaced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automatically, no subjective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
</a:t>
            </a:r>
            <a:pPr indent="0" marL="0">
              <a:lnSpc>
                <a:spcPts val="1552"/>
              </a:lnSpc>
              <a:buNone/>
            </a:pPr>
            <a:r>
              <a:rPr lang="en-US" sz="1350" dirty="0">
                <a:solidFill>
                  <a:srgbClr val="E0D9C4"/>
                </a:solidFill>
              </a:rPr>
              <a:t>bias required.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419350" y="6572250"/>
            <a:ext cx="97726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C4B29E"/>
                </a:solidFill>
              </a:rPr>
              <a:t>AWI derived from 3D nose - neck - ear keypoints · TRACAB TF15 · 50 frames per second · 5 Bundesliga matches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294" y="2187625"/>
            <a:ext cx="609600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821138"/>
            <a:ext cx="426690" cy="49366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90615"/>
            <a:ext cx="438894" cy="4662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73932"/>
            <a:ext cx="438894" cy="45258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0" y="400050"/>
            <a:ext cx="12192000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Bridging the Gap: Transforming 50 fps Skeleton</a:t>
            </a:r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into Actionable Coaching Intelligence</a:t>
            </a:r>
            <a:endParaRPr lang="en-US" sz="3300" dirty="0"/>
          </a:p>
        </p:txBody>
      </p:sp>
      <p:sp>
        <p:nvSpPr>
          <p:cNvPr id="8" name="Text 1"/>
          <p:cNvSpPr/>
          <p:nvPr/>
        </p:nvSpPr>
        <p:spPr>
          <a:xfrm>
            <a:off x="1200150" y="2181225"/>
            <a:ext cx="1920240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Scouting</a:t>
            </a:r>
            <a:endParaRPr lang="en-US" sz="1575" dirty="0"/>
          </a:p>
        </p:txBody>
      </p:sp>
      <p:sp>
        <p:nvSpPr>
          <p:cNvPr id="9" name="Text 2"/>
          <p:cNvSpPr/>
          <p:nvPr/>
        </p:nvSpPr>
        <p:spPr>
          <a:xfrm>
            <a:off x="1200150" y="3486150"/>
            <a:ext cx="452628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Fatigue Monitoring</a:t>
            </a:r>
            <a:endParaRPr lang="en-US" sz="1650" dirty="0"/>
          </a:p>
        </p:txBody>
      </p:sp>
      <p:sp>
        <p:nvSpPr>
          <p:cNvPr id="10" name="Text 3"/>
          <p:cNvSpPr/>
          <p:nvPr/>
        </p:nvSpPr>
        <p:spPr>
          <a:xfrm>
            <a:off x="1200150" y="4791075"/>
            <a:ext cx="4080510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F6EA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Broadcast Overlay</a:t>
            </a:r>
            <a:endParaRPr lang="en-US" sz="1575" dirty="0"/>
          </a:p>
        </p:txBody>
      </p:sp>
      <p:sp>
        <p:nvSpPr>
          <p:cNvPr id="11" name="Text 4"/>
          <p:cNvSpPr/>
          <p:nvPr/>
        </p:nvSpPr>
        <p:spPr>
          <a:xfrm>
            <a:off x="8696325" y="2495550"/>
            <a:ext cx="349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D9B3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Angle Calibration Challenge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8696325" y="4333875"/>
            <a:ext cx="34956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D9B3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 Filter Iteration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495800" y="2733675"/>
            <a:ext cx="3614738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Oscar Winther Höjlund • DMZ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#1 of 400 • 72% above league mean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572000" y="3448050"/>
            <a:ext cx="2587823" cy="10060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PQI 63.9: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proximity elite • 96.0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orientation • 59.0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stance • 38.1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4495800" y="4648200"/>
            <a:ext cx="399186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 Deploy in high-press systems where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F6EAD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pre-scanning enables ball recovery.</a:t>
            </a:r>
            <a:endParaRPr lang="en-US" sz="1425" dirty="0"/>
          </a:p>
        </p:txBody>
      </p:sp>
      <p:sp>
        <p:nvSpPr>
          <p:cNvPr id="16" name="Text 9"/>
          <p:cNvSpPr/>
          <p:nvPr/>
        </p:nvSpPr>
        <p:spPr>
          <a:xfrm>
            <a:off x="1200150" y="2524125"/>
            <a:ext cx="3122265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“Rank candidates on AWI and PQI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independently. Find dual-threat players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target specific development gaps.”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1200150" y="3829050"/>
            <a:ext cx="287074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AWI half-time comparisons surface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 disangagement before it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becomes a tactical problem.</a:t>
            </a:r>
            <a:endParaRPr lang="en-US" sz="1125" dirty="0"/>
          </a:p>
        </p:txBody>
      </p:sp>
      <p:sp>
        <p:nvSpPr>
          <p:cNvPr id="18" name="Text 11"/>
          <p:cNvSpPr/>
          <p:nvPr/>
        </p:nvSpPr>
        <p:spPr>
          <a:xfrm>
            <a:off x="1200150" y="5143500"/>
            <a:ext cx="29231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Sub-155 latency, already validated.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“Höjlund scanned 27 times before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interception.”</a:t>
            </a:r>
            <a:endParaRPr lang="en-US" sz="1125" dirty="0"/>
          </a:p>
        </p:txBody>
      </p:sp>
      <p:sp>
        <p:nvSpPr>
          <p:cNvPr id="19" name="Text 12"/>
          <p:cNvSpPr/>
          <p:nvPr/>
        </p:nvSpPr>
        <p:spPr>
          <a:xfrm>
            <a:off x="8696325" y="2838450"/>
            <a:ext cx="3143250" cy="9145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XY-plane projection compresses 3D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angles. Standard 30° threshold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over-counted. Re-tuned to 45° —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anchored on Kimmich's hand-coded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benchmark.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629650" y="4676775"/>
            <a:ext cx="3562350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3-frame minimum yielded noisy scores.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Raised to 10 consecutive frames (0.2 s) —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 raw observations, dramatically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signal fidelity.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495800" y="5543550"/>
            <a:ext cx="7696200" cy="158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48"/>
              </a:lnSpc>
              <a:buNone/>
            </a:pPr>
            <a:r>
              <a:rPr lang="en-US" sz="975" i="1" dirty="0">
                <a:solidFill>
                  <a:srgbClr val="D9B3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scouting narrative from raw skeleton data</a:t>
            </a:r>
            <a:endParaRPr lang="en-US" sz="975" dirty="0"/>
          </a:p>
        </p:txBody>
      </p:sp>
      <p:sp>
        <p:nvSpPr>
          <p:cNvPr id="22" name="Text 15"/>
          <p:cNvSpPr/>
          <p:nvPr/>
        </p:nvSpPr>
        <p:spPr>
          <a:xfrm>
            <a:off x="466725" y="123825"/>
            <a:ext cx="617220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dirty="0">
                <a:solidFill>
                  <a:srgbClr val="F6EA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• LEARNING • WHAT'S NEXT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515350" y="2009775"/>
            <a:ext cx="308610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dirty="0">
                <a:solidFill>
                  <a:srgbClr val="F6EA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LESSONS LEARNED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0" y="6162675"/>
            <a:ext cx="1219200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125" dirty="0">
                <a:solidFill>
                  <a:srgbClr val="F6E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Pre-pass AWI → progressive pass rate correlation → Full-season development arcs &amp; fatigue tracking → Live DFL matchday stream integration • &lt;1 s Latency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6324600" y="2181225"/>
            <a:ext cx="32918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99"/>
              </a:lnSpc>
              <a:buNone/>
            </a:pPr>
            <a:r>
              <a:rPr lang="en-US" sz="900" dirty="0">
                <a:solidFill>
                  <a:srgbClr val="F6E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Bedrock Nova Lite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2026-04-16T14:17:43Z</dcterms:created>
  <dcterms:modified xsi:type="dcterms:W3CDTF">2026-04-16T14:17:43Z</dcterms:modified>
</cp:coreProperties>
</file>